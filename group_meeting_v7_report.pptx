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0F0F0"/>
                </a:solidFill>
                <a:latin typeface="Arial"/>
              </a:defRPr>
            </a:pPr>
            <a:r>
              <a:t>Baseline Algorithm Correctness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EC9B0"/>
                </a:solidFill>
                <a:latin typeface="Arial"/>
              </a:defRPr>
            </a:pPr>
            <a:r>
              <a:t>SGX TEE Edge Cluster DNN Inference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Arial"/>
              </a:defRPr>
            </a:pPr>
            <a:r>
              <a:t>v7: OCC / DINA / MEDIA correctness audit against original papers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99"/>
                </a:solidFill>
                <a:latin typeface="Arial"/>
              </a:defRPr>
            </a:pPr>
            <a:r>
              <a:t>2026-03-09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10058400" cy="7315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2618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261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Arial"/>
              </a:defRPr>
            </a:pPr>
            <a:r>
              <a:t>Baseline Fix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5727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OCC / DINA / MEDIA correctness deviations &amp; corrections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10058400" cy="7315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305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30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Arial"/>
              </a:defRPr>
            </a:pPr>
            <a:r>
              <a:t>Exp1: Fixed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414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4x Xeon, 100Mbps - all 12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26080"/>
            <a:ext cx="10058400" cy="7315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999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99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Arial"/>
              </a:defRPr>
            </a:pPr>
            <a:r>
              <a:t>Exp2: Network Ablation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3101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Bandwidth sweep 0.5-500 Mbps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94759"/>
            <a:ext cx="10058400" cy="7315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86791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679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Arial"/>
              </a:defRPr>
            </a:pPr>
            <a:r>
              <a:t>Exp3: Server Ablation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178807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Heterogeneous 1-8 servers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663440"/>
            <a:ext cx="10058400" cy="7315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7365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736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Arial"/>
              </a:defRPr>
            </a:pPr>
            <a:r>
              <a:t>Key Findings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0474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OCC=DINA=MEDIA phenomenon &amp; Ours advantage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532120"/>
            <a:ext cx="10058400" cy="7315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6052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605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916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Remaining work items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0"/>
                </a:solidFill>
                <a:latin typeface="Arial"/>
              </a:defRPr>
            </a:pPr>
            <a:r>
              <a:t>1. Baseline Algorithm Corrections (commit ead9b1b)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24688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Arial"/>
              </a:defRPr>
            </a:pPr>
            <a:r>
              <a:t>OCC (Occlumency, MobiCom'19)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F9F43"/>
                </a:solidFill>
                <a:latin typeface="Arial"/>
              </a:defRPr>
            </a:pPr>
            <a:r>
              <a:t>Severity: Medium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F6B6B"/>
                </a:solidFill>
                <a:latin typeface="Arial"/>
              </a:defRPr>
            </a:pPr>
            <a:r>
              <a:t>Bug: Weights included in EPC budget</a:t>
            </a:r>
          </a:p>
          <a:p>
            <a:pPr>
              <a:spcAft>
                <a:spcPts val="400"/>
              </a:spcAft>
              <a:defRPr sz="1200" b="0">
                <a:solidFill>
                  <a:srgbClr val="66BB6A"/>
                </a:solidFill>
                <a:latin typeface="Arial"/>
              </a:defRPr>
            </a:pPr>
            <a:r>
              <a:t>Paper: Weights stored outside EPC</a:t>
            </a:r>
          </a:p>
          <a:p>
            <a:pPr>
              <a:spcAft>
                <a:spcPts val="400"/>
              </a:spcAft>
              <a:defRPr sz="1200" b="0">
                <a:solidFill>
                  <a:srgbClr val="66BB6A"/>
                </a:solidFill>
                <a:latin typeface="Arial"/>
              </a:defRPr>
            </a:pPr>
            <a:r>
              <a:t>  (unprotected DRAM, DDR memcpy)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66BB6A"/>
                </a:solidFill>
                <a:latin typeface="Arial"/>
              </a:defRPr>
            </a:pPr>
            <a:r>
              <a:t>Fix: activation-only EPC budget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  EPC = activations + ring buffer (20MB)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  Budget = 93 - 20 = 73 MB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657600" cy="24688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Arial"/>
              </a:defRPr>
            </a:pPr>
            <a:r>
              <a:t>DINA (IEEE TPDS'24)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F6B6B"/>
                </a:solidFill>
                <a:latin typeface="Arial"/>
              </a:defRPr>
            </a:pPr>
            <a:r>
              <a:t>Severity: HIGH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F6B6B"/>
                </a:solidFill>
                <a:latin typeface="Arial"/>
              </a:defRPr>
            </a:pPr>
            <a:r>
              <a:t>Bug: Forced server rotation</a:t>
            </a:r>
          </a:p>
          <a:p>
            <a:pPr>
              <a:spcAft>
                <a:spcPts val="400"/>
              </a:spcAft>
              <a:defRPr sz="1200" b="0">
                <a:solidFill>
                  <a:srgbClr val="FF6B6B"/>
                </a:solidFill>
                <a:latin typeface="Arial"/>
              </a:defRPr>
            </a:pPr>
            <a:r>
              <a:t>  (round-robin partition assignment)</a:t>
            </a:r>
          </a:p>
          <a:p>
            <a:pPr>
              <a:spcAft>
                <a:spcPts val="400"/>
              </a:spcAft>
              <a:defRPr sz="1200" b="0">
                <a:solidFill>
                  <a:srgbClr val="66BB6A"/>
                </a:solidFill>
                <a:latin typeface="Arial"/>
              </a:defRPr>
            </a:pPr>
            <a:r>
              <a:t>Paper: Matching game approach</a:t>
            </a:r>
          </a:p>
          <a:p>
            <a:pPr>
              <a:spcAft>
                <a:spcPts val="400"/>
              </a:spcAft>
              <a:defRPr sz="1200" b="0">
                <a:solidFill>
                  <a:srgbClr val="66BB6A"/>
                </a:solidFill>
                <a:latin typeface="Arial"/>
              </a:defRPr>
            </a:pPr>
            <a:r>
              <a:t>  DINA-P: adaptive partitioning</a:t>
            </a:r>
          </a:p>
          <a:p>
            <a:pPr>
              <a:spcAft>
                <a:spcPts val="400"/>
              </a:spcAft>
              <a:defRPr sz="1200" b="0">
                <a:solidFill>
                  <a:srgbClr val="66BB6A"/>
                </a:solidFill>
                <a:latin typeface="Arial"/>
              </a:defRPr>
            </a:pPr>
            <a:r>
              <a:t>  DINA-O: greedy + pairwise swap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66BB6A"/>
                </a:solidFill>
                <a:latin typeface="Arial"/>
              </a:defRPr>
            </a:pPr>
            <a:r>
              <a:t>Fix: Full rewrite (319 lines)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  Proportional workload distribution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97280"/>
            <a:ext cx="3657600" cy="24688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Arial"/>
              </a:defRPr>
            </a:pPr>
            <a:r>
              <a:t>MEDIA (ICDCS)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F9F43"/>
                </a:solidFill>
                <a:latin typeface="Arial"/>
              </a:defRPr>
            </a:pPr>
            <a:r>
              <a:t>Severity: Low-Medium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F6B6B"/>
                </a:solidFill>
                <a:latin typeface="Arial"/>
              </a:defRPr>
            </a:pPr>
            <a:r>
              <a:t>Bug: Constraint 1 too strict</a:t>
            </a:r>
          </a:p>
          <a:p>
            <a:pPr>
              <a:spcAft>
                <a:spcPts val="400"/>
              </a:spcAft>
              <a:defRPr sz="1200" b="0">
                <a:solidFill>
                  <a:srgbClr val="FF6B6B"/>
                </a:solidFill>
                <a:latin typeface="Arial"/>
              </a:defRPr>
            </a:pPr>
            <a:r>
              <a:t>  Only checked in_degree(v)==1</a:t>
            </a:r>
          </a:p>
          <a:p>
            <a:pPr>
              <a:spcAft>
                <a:spcPts val="400"/>
              </a:spcAft>
              <a:defRPr sz="1200" b="0">
                <a:solidFill>
                  <a:srgbClr val="66BB6A"/>
                </a:solidFill>
                <a:latin typeface="Arial"/>
              </a:defRPr>
            </a:pPr>
            <a:r>
              <a:t>Paper: in_deg==1 OR out_deg==1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66BB6A"/>
                </a:solidFill>
                <a:latin typeface="Arial"/>
              </a:defRPr>
            </a:pPr>
            <a:r>
              <a:t>Fix: Restored paper's Constraint 1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  + Priority computation (Eq. 11)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  rewritten to match paper formula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47120" cy="2743200"/>
          </a:xfrm>
          <a:prstGeom prst="roundRect">
            <a:avLst/>
          </a:prstGeom>
          <a:solidFill>
            <a:srgbClr val="1E1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Arial"/>
              </a:defRPr>
            </a:pPr>
            <a:r>
              <a:t>Impact on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0F0F0"/>
                </a:solidFill>
                <a:latin typeface="Arial"/>
              </a:defRPr>
            </a:pPr>
            <a:r>
              <a:t>DINA (biggest change): Old code forced round-robin assignment -&gt; catastrophic latency (e.g., BERT-large: 17,532ms)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  <a:latin typeface="Arial"/>
              </a:defRPr>
            </a:pPr>
            <a:r>
              <a:t>  New code: greedy scheduler assigns all partitions to best server -&gt; matches OCC/MEDIA on serial DAGs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66BB6A"/>
                </a:solidFill>
                <a:latin typeface="Arial"/>
              </a:defRPr>
            </a:pPr>
            <a:r>
              <a:t>Result: OCC = DINA = MEDIA on ALL 12 models (homogeneous 4x Xeon servers)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  <a:latin typeface="Arial"/>
              </a:defRPr>
            </a:pPr>
            <a:r>
              <a:t>  This is CORRECT - proves serial DAGs cannot benefit from multi-server distribution</a:t>
            </a:r>
          </a:p>
          <a:p>
            <a:pPr>
              <a:spcAft>
                <a:spcPts val="400"/>
              </a:spcAft>
              <a:defRPr sz="1300" b="1">
                <a:solidFill>
                  <a:srgbClr val="4EC9B0"/>
                </a:solidFill>
                <a:latin typeface="Arial"/>
              </a:defRPr>
            </a:pPr>
            <a:r>
              <a:t>  Only Ours (HPA tensor parallelism) can exploit intra-layer parallelism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0"/>
                </a:solidFill>
                <a:latin typeface="Arial"/>
              </a:defRPr>
            </a:pPr>
            <a:r>
              <a:t>2. Exp1: Fixed Configuration (4x Xeon_IceLake, 100 Mbps)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77724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39389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OCC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DINA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MEDIA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Ours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Improvement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InceptionV3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930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38.3%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ViT-base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1218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1218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1218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1046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14.1%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ViT-small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410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410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410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334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18.4%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BERT-base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757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757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757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663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12.4%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ALBERT-base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756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756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756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660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12.8%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DistilBERT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377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377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377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337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10.5%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TinyBERT-4l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7.2%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TinyBERT-6l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377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377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377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337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10.5%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ViT-tiny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11.3%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BERT-large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2307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2307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2307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2287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0.9%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ALBERT-large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2382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2382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2382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2288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4.0%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3939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ViT-large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3563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3563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3563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3526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229600" y="1005840"/>
            <a:ext cx="3657600" cy="512064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097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Arial"/>
              </a:defRPr>
            </a:pPr>
            <a:r>
              <a:t>Key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66BB6A"/>
                </a:solidFill>
                <a:latin typeface="Arial"/>
              </a:defRPr>
            </a:pPr>
            <a:r>
              <a:t>OCC = DINA = MEDIA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All 12 models, exact same latency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  <a:r>
              <a:t>Why? Serial DAG chains cannot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  <a:r>
              <a:t>benefit from multi-server distribution.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  <a:r>
              <a:t>All 3 baselines effectively run on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  <a:r>
              <a:t>a single best server.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4EC9B0"/>
                </a:solidFill>
                <a:latin typeface="Arial"/>
              </a:defRPr>
            </a:pPr>
            <a:r>
              <a:t>Ours advantage by model type: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66BB6A"/>
                </a:solidFill>
                <a:latin typeface="Arial"/>
              </a:defRPr>
            </a:pPr>
            <a:r>
              <a:t>  Parallel branches (InceptionV3):</a:t>
            </a:r>
          </a:p>
          <a:p>
            <a:pPr>
              <a:spcAft>
                <a:spcPts val="400"/>
              </a:spcAft>
              <a:defRPr sz="1200" b="0">
                <a:solidFill>
                  <a:srgbClr val="66BB6A"/>
                </a:solidFill>
                <a:latin typeface="Arial"/>
              </a:defRPr>
            </a:pPr>
            <a:r>
              <a:t>  38.3% - largest gain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4EC9B0"/>
                </a:solidFill>
                <a:latin typeface="Arial"/>
              </a:defRPr>
            </a:pPr>
            <a:r>
              <a:t>  Small models (ViT-s/t, BERT-b):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  12-18% - TP Amdahl speedup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F9F43"/>
                </a:solidFill>
                <a:latin typeface="Arial"/>
              </a:defRPr>
            </a:pPr>
            <a:r>
              <a:t>  Large models (BERT-l, ViT-l):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  ~1% - paging penalty offsets TP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0"/>
                </a:solidFill>
                <a:latin typeface="Arial"/>
              </a:defRPr>
            </a:pPr>
            <a:r>
              <a:t>3. Exp2: Network Bandwidth Ablation (4 servers)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  <a:latin typeface="Arial"/>
              </a:defRPr>
            </a:pPr>
            <a:r>
              <a:t>InceptionV3 (parallel branch model - key result)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6858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BW (Mbps)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OCC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DINA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MEDIA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Ours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Ours/OCC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0.5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1.000x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5.0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1499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0.996x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1308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0.869x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0.664x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930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0.617x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867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0.576x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500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1506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556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0.370x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Arial"/>
              </a:defRPr>
            </a:pPr>
            <a:r>
              <a:t>BERT-large (large linear model)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5029200"/>
          <a:ext cx="6858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BW (Mbps)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OCC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DINA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MEDIA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Ours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Ours/OCC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0.5-200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2307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2307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2307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2287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0.991x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500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2307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2307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2408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1817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0.787x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914400"/>
            <a:ext cx="4389120" cy="54864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59" y="10058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Arial"/>
              </a:defRPr>
            </a:pPr>
            <a:r>
              <a:t>Bandwidth Sensitivity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37160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66BB6A"/>
                </a:solidFill>
                <a:latin typeface="Arial"/>
              </a:defRPr>
            </a:pPr>
            <a:r>
              <a:t>InceptionV3: S-curve pattern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  &lt;5 Mbps: safeguard (=OCC)</a:t>
            </a:r>
          </a:p>
          <a:p>
            <a:pPr>
              <a:spcAft>
                <a:spcPts val="400"/>
              </a:spcAft>
              <a:defRPr sz="1200" b="0">
                <a:solidFill>
                  <a:srgbClr val="808099"/>
                </a:solidFill>
                <a:latin typeface="Arial"/>
              </a:defRPr>
            </a:pPr>
            <a:r>
              <a:t>    Comm cost &gt; parallel benefit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  <a:r>
              <a:t>  10 Mbps: 13% speedup (HEFT only)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  <a:r>
              <a:t>  100 Mbps: 38% speedup (HEFT+TP)</a:t>
            </a:r>
          </a:p>
          <a:p>
            <a:pPr>
              <a:spcAft>
                <a:spcPts val="400"/>
              </a:spcAft>
              <a:defRPr sz="1200" b="1">
                <a:solidFill>
                  <a:srgbClr val="66BB6A"/>
                </a:solidFill>
                <a:latin typeface="Arial"/>
              </a:defRPr>
            </a:pPr>
            <a:r>
              <a:t>  500 Mbps: 63% speedup (max TP)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4EC9B0"/>
                </a:solidFill>
                <a:latin typeface="Arial"/>
              </a:defRPr>
            </a:pPr>
            <a:r>
              <a:t>  TP operators increase with BW: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  10Mbps: 1 op, 100Mbps: 17 ops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  500Mbps: 58 ops (all at k=8)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9F43"/>
                </a:solidFill>
                <a:latin typeface="Arial"/>
              </a:defRPr>
            </a:pPr>
            <a:r>
              <a:t>BERT-large: safeguard dominant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  Residual connections prevent HEFT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  <a:r>
              <a:t>  500 Mbps breakthrough: 21% speedup</a:t>
            </a:r>
          </a:p>
          <a:p>
            <a:pPr>
              <a:spcAft>
                <a:spcPts val="400"/>
              </a:spcAft>
              <a:defRPr sz="1200" b="0">
                <a:solidFill>
                  <a:srgbClr val="808099"/>
                </a:solidFill>
                <a:latin typeface="Arial"/>
              </a:defRPr>
            </a:pPr>
            <a:r>
              <a:t>  (24 ops get TP, breaks dependencies)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6B6B"/>
                </a:solidFill>
                <a:latin typeface="Arial"/>
              </a:defRPr>
            </a:pPr>
            <a:r>
              <a:t>Baselines bandwidth-insensitive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  All 3 always use single 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0"/>
                </a:solidFill>
                <a:latin typeface="Arial"/>
              </a:defRPr>
            </a:pPr>
            <a:r>
              <a:t>4. Exp3: Heterogeneous Server Ablation (100 Mbps)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Arial"/>
              </a:defRPr>
            </a:pPr>
            <a:r>
              <a:t>Server addition order: 2x Celeron(0.11x) + 4x i5-6500(0.93x) + i3-10100(1.03x) + i5-11600(1.97x)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  <a:latin typeface="Arial"/>
              </a:defRPr>
            </a:pPr>
            <a:r>
              <a:t>InceptionV3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45920"/>
          <a:ext cx="7772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342"/>
                <a:gridCol w="1110342"/>
                <a:gridCol w="1110342"/>
                <a:gridCol w="1110342"/>
                <a:gridCol w="1110342"/>
                <a:gridCol w="1110342"/>
                <a:gridCol w="1110348"/>
              </a:tblGrid>
              <a:tr h="37719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Servers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Config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OCC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DINA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MEDIA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Ours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Ours Imprv.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1x Celeron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13689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13689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13689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13689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2x Celeron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13689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13689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13689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9887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27.8%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+i5-6500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1619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1619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1619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1472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9.1%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+i5-6500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1619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1619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1619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1168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27.8%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5-6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+i5-6500s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1619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1619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1619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986-1049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35-39%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+i3-10100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1462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1462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1462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872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40.4%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+i5-11600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764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764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764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511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33.2%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Arial"/>
              </a:defRPr>
            </a:pPr>
            <a:r>
              <a:t>BERT-base (linear model reference)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5212080"/>
          <a:ext cx="6858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Servers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OCC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DINA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MEDIA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Ours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Ours/OCC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6883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6883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6883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6883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1.000x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6883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6883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6554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6261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0.909x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3-6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814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814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814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713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0.876x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384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384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384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337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0.877x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0" y="1280160"/>
            <a:ext cx="3657600" cy="53035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Arial"/>
              </a:defRPr>
            </a:pPr>
            <a:r>
              <a:t>Server Scaling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73736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EC9B0"/>
                </a:solidFill>
                <a:latin typeface="Arial"/>
              </a:defRPr>
            </a:pPr>
            <a:r>
              <a:t>Key transition points: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  <a:r>
              <a:t>  n=1-&gt;2 (Celeron 0.11x):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  Baselines: no change (too slow)</a:t>
            </a:r>
          </a:p>
          <a:p>
            <a:pPr>
              <a:spcAft>
                <a:spcPts val="400"/>
              </a:spcAft>
              <a:defRPr sz="1200" b="1">
                <a:solidFill>
                  <a:srgbClr val="66BB6A"/>
                </a:solidFill>
                <a:latin typeface="Arial"/>
              </a:defRPr>
            </a:pPr>
            <a:r>
              <a:t>  Ours: 28% speedup via HPA</a:t>
            </a:r>
          </a:p>
          <a:p>
            <a:pPr>
              <a:spcAft>
                <a:spcPts val="400"/>
              </a:spcAft>
              <a:defRPr sz="1200" b="0">
                <a:solidFill>
                  <a:srgbClr val="66BB6A"/>
                </a:solidFill>
                <a:latin typeface="Arial"/>
              </a:defRPr>
            </a:pPr>
            <a:r>
              <a:t>  -&gt; HPA works even on slow nodes!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  <a:r>
              <a:t>  n=2-&gt;3 (add i5-6500 0.93x):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  All methods: 13689 -&gt; 1619 ms</a:t>
            </a:r>
          </a:p>
          <a:p>
            <a:pPr>
              <a:spcAft>
                <a:spcPts val="400"/>
              </a:spcAft>
              <a:defRPr sz="1200" b="0">
                <a:solidFill>
                  <a:srgbClr val="808099"/>
                </a:solidFill>
                <a:latin typeface="Arial"/>
              </a:defRPr>
            </a:pPr>
            <a:r>
              <a:t>  (8.5x drop, first usable server)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66BB6A"/>
                </a:solidFill>
                <a:latin typeface="Arial"/>
              </a:defRPr>
            </a:pPr>
            <a:r>
              <a:t>  n=7 (best Ours/OCC = 40.4%):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  Peak improvement point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  <a:r>
              <a:t>Baselines can only benefit from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  <a:r>
              <a:t>faster single servers (OCC jumps),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  <a:r>
              <a:t>never from more servers.</a:t>
            </a:r>
          </a:p>
          <a:p>
            <a:pPr>
              <a:spcAft>
                <a:spcPts val="400"/>
              </a:spcAft>
              <a:defRPr sz="12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4EC9B0"/>
                </a:solidFill>
                <a:latin typeface="Arial"/>
              </a:defRPr>
            </a:pPr>
            <a:r>
              <a:t>Ours: sub-linear scaling with</a:t>
            </a:r>
          </a:p>
          <a:p>
            <a:pPr>
              <a:spcAft>
                <a:spcPts val="400"/>
              </a:spcAft>
              <a:defRPr sz="1200" b="0">
                <a:solidFill>
                  <a:srgbClr val="B0B0C0"/>
                </a:solidFill>
                <a:latin typeface="Arial"/>
              </a:defRPr>
            </a:pPr>
            <a:r>
              <a:t>diminishing returns after n=5.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0"/>
                </a:solidFill>
                <a:latin typeface="Arial"/>
              </a:defRPr>
            </a:pPr>
            <a:r>
              <a:t>5. Key Findings &amp; Thesis Argument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  <a:latin typeface="Arial"/>
              </a:defRPr>
            </a:pPr>
            <a:r>
              <a:t>Finding 1: OCC = DINA =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0F0F0"/>
                </a:solidFill>
                <a:latin typeface="Arial"/>
              </a:defRPr>
            </a:pPr>
            <a:r>
              <a:t>All 3 baselines produce identical latency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  <a:r>
              <a:t>on homogeneous servers (all 12 models).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  <a:r>
              <a:t>Root cause: Serial DAG chains prevent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  <a:r>
              <a:t>multi-server parallelism. Partition-level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  <a:r>
              <a:t>distribution adds communication overhead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  <a:r>
              <a:t>without parallel execution benefit.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66BB6A"/>
                </a:solidFill>
                <a:latin typeface="Arial"/>
              </a:defRPr>
            </a:pPr>
            <a:r>
              <a:t>This validates the thesis core argument.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48640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Arial"/>
              </a:defRPr>
            </a:pPr>
            <a:r>
              <a:t>Finding 2: Ours advantage depends on model topology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66BB6A"/>
                </a:solidFill>
                <a:latin typeface="Arial"/>
              </a:defRPr>
            </a:pPr>
            <a:r>
              <a:t>Parallel branches (InceptionV3): 38-63%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  <a:latin typeface="Arial"/>
              </a:defRPr>
            </a:pPr>
            <a:r>
              <a:t>  -&gt; HPA tensor parallelism + HEFT scheduling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4EC9B0"/>
                </a:solidFill>
                <a:latin typeface="Arial"/>
              </a:defRPr>
            </a:pPr>
            <a:r>
              <a:t>Small linear models: 12-18%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  <a:latin typeface="Arial"/>
              </a:defRPr>
            </a:pPr>
            <a:r>
              <a:t>  -&gt; Pure TP Amdahl speedup (k=8)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9F43"/>
                </a:solidFill>
                <a:latin typeface="Arial"/>
              </a:defRPr>
            </a:pPr>
            <a:r>
              <a:t>Large linear models: 1% @ 100Mbps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  <a:latin typeface="Arial"/>
              </a:defRPr>
            </a:pPr>
            <a:r>
              <a:t>  -&gt; Paging penalty dominates</a:t>
            </a:r>
          </a:p>
          <a:p>
            <a:pPr>
              <a:spcAft>
                <a:spcPts val="400"/>
              </a:spcAft>
              <a:defRPr sz="1300" b="0">
                <a:solidFill>
                  <a:srgbClr val="66BB6A"/>
                </a:solidFill>
                <a:latin typeface="Arial"/>
              </a:defRPr>
            </a:pPr>
            <a:r>
              <a:t>  -&gt; But 500Mbps: 21-23% breakthrough!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5486400" cy="2743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Arial"/>
              </a:defRPr>
            </a:pPr>
            <a:r>
              <a:t>Finding 3: Bandwidth-adaptive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0F0F0"/>
                </a:solidFill>
                <a:latin typeface="Arial"/>
              </a:defRPr>
            </a:pPr>
            <a:r>
              <a:t>Ours exhibits S-curve speedup pattern: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  <a:latin typeface="Arial"/>
              </a:defRPr>
            </a:pPr>
            <a:r>
              <a:t>  Low BW (&lt;5Mbps): safeguard = OCC</a:t>
            </a:r>
          </a:p>
          <a:p>
            <a:pPr>
              <a:spcAft>
                <a:spcPts val="400"/>
              </a:spcAft>
              <a:defRPr sz="1300" b="0">
                <a:solidFill>
                  <a:srgbClr val="66BB6A"/>
                </a:solidFill>
                <a:latin typeface="Arial"/>
              </a:defRPr>
            </a:pPr>
            <a:r>
              <a:t>    No degradation (unlike old DINA: 100x+)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  <a:r>
              <a:t>  Medium BW (10-100Mbps): HEFT + progressive TP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  <a:latin typeface="Arial"/>
              </a:defRPr>
            </a:pPr>
            <a:r>
              <a:t>    Operators selected by DP based on BW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  <a:r>
              <a:t>  High BW (500Mbps): maximum TP utilization</a:t>
            </a:r>
          </a:p>
          <a:p>
            <a:pPr>
              <a:spcAft>
                <a:spcPts val="400"/>
              </a:spcAft>
              <a:defRPr sz="1300" b="1">
                <a:solidFill>
                  <a:srgbClr val="66BB6A"/>
                </a:solidFill>
                <a:latin typeface="Arial"/>
              </a:defRPr>
            </a:pPr>
            <a:r>
              <a:t>    InceptionV3: 63%, BERT-large: 21%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4EC9B0"/>
                </a:solidFill>
                <a:latin typeface="Arial"/>
              </a:defRPr>
            </a:pPr>
            <a:r>
              <a:t>Adaptive degradation = safety guarantee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486400" cy="2743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Arial"/>
              </a:defRPr>
            </a:pPr>
            <a:r>
              <a:t>Finding 4: Heterogeneous server utilization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0F0F0"/>
                </a:solidFill>
                <a:latin typeface="Arial"/>
              </a:defRPr>
            </a:pPr>
            <a:r>
              <a:t>Baselines: only benefit from faster servers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  <a:latin typeface="Arial"/>
              </a:defRPr>
            </a:pPr>
            <a:r>
              <a:t>  Cannot exploit multiple servers for 1 inference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  <a:latin typeface="Arial"/>
              </a:defRPr>
            </a:pPr>
            <a:r>
              <a:t>  OCC jumps at n=3 (first fast server added)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66BB6A"/>
                </a:solidFill>
                <a:latin typeface="Arial"/>
              </a:defRPr>
            </a:pPr>
            <a:r>
              <a:t>Ours: progressive improvement with more servers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  <a:latin typeface="Arial"/>
              </a:defRPr>
            </a:pPr>
            <a:r>
              <a:t>  Even slow Celeron (0.11x) contributes via HPA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  <a:latin typeface="Arial"/>
              </a:defRPr>
            </a:pPr>
            <a:r>
              <a:t>  Sub-linear scaling (diminishing returns &gt;5)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66BB6A"/>
                </a:solidFill>
                <a:latin typeface="Arial"/>
              </a:defRPr>
            </a:pPr>
            <a:r>
              <a:t>InceptionV3 n=7: Ours = 872ms (40% &lt; baseline)</a:t>
            </a:r>
          </a:p>
          <a:p>
            <a:pPr>
              <a:spcAft>
                <a:spcPts val="400"/>
              </a:spcAft>
              <a:defRPr sz="1300" b="0">
                <a:solidFill>
                  <a:srgbClr val="B0B0C0"/>
                </a:solidFill>
                <a:latin typeface="Arial"/>
              </a:defRPr>
            </a:pPr>
            <a:r>
              <a:t>  vs baselines stuck at 1462ms</a:t>
            </a:r>
          </a:p>
          <a:p>
            <a:pPr>
              <a:spcAft>
                <a:spcPts val="400"/>
              </a:spcAft>
              <a:defRPr sz="1300" b="0">
                <a:solidFill>
                  <a:srgbClr val="F0F0F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4EC9B0"/>
                </a:solidFill>
                <a:latin typeface="Arial"/>
              </a:defRPr>
            </a:pPr>
            <a:r>
              <a:t>Demonstrates true multi-server utilization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0"/>
                </a:solidFill>
                <a:latin typeface="Arial"/>
              </a:defRPr>
            </a:pPr>
            <a:r>
              <a:t>Version History: Bug Fix Journey (v1 -&gt; v7)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Version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Fix Description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v1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03-03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Initial implementation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Baseline (comm volume bug)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v2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03-03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AllReduce + safeguard fix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Non-deterministic set() bug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v3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03-04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Non-determinism fix (sorted sets)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Reproducible results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v4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03-04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OCC: EPC paging -&gt; DDR memcpy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OCC baseline 64-81% lower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v5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03-05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MEDIA: remove fake paging_cost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MEDIA = OCC (correct)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v6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03-05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MEDIA: fix join node merging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MEDIA &lt; OCC on InceptionV3</a:t>
                      </a:r>
                    </a:p>
                  </a:txBody>
                  <a:tcPr anchor="ctr">
                    <a:solidFill>
                      <a:srgbClr val="28284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v7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03-09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OCC/DINA/MEDIA full audit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0F0F0"/>
                          </a:solidFill>
                          <a:latin typeface="Arial"/>
                        </a:defRPr>
                      </a:pPr>
                      <a:r>
                        <a:t>OCC=DINA=MEDIA (correct!)</a:t>
                      </a:r>
                    </a:p>
                  </a:txBody>
                  <a:tcPr anchor="ctr">
                    <a:solidFill>
                      <a:srgbClr val="20203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  <a:latin typeface="Arial"/>
              </a:defRPr>
            </a:pPr>
            <a:r>
              <a:t>7 versions, 6+ bugs fixed. Each fix brought results closer to ground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0F0F0"/>
                </a:solidFill>
                <a:latin typeface="Arial"/>
              </a:defRPr>
            </a:pPr>
            <a:r>
              <a:t>Key lesson: Every baseline implementation had deviations from original papers.</a:t>
            </a:r>
          </a:p>
          <a:p>
            <a:pPr>
              <a:spcAft>
                <a:spcPts val="400"/>
              </a:spcAft>
              <a:defRPr sz="1400" b="0">
                <a:solidFill>
                  <a:srgbClr val="F0F0F0"/>
                </a:solidFill>
                <a:latin typeface="Arial"/>
              </a:defRPr>
            </a:pPr>
            <a:r>
              <a:t>Rigorous audit against source PDFs was essential for credible experimental comparison.</a:t>
            </a:r>
          </a:p>
          <a:p>
            <a:pPr>
              <a:spcAft>
                <a:spcPts val="400"/>
              </a:spcAft>
              <a:defRPr sz="1400" b="0">
                <a:solidFill>
                  <a:srgbClr val="F0F0F0"/>
                </a:solidFill>
                <a:latin typeface="Arial"/>
              </a:defRPr>
            </a:pPr>
            <a:r>
              <a:t>The final v7 result (OCC=DINA=MEDIA) is actually the strongest thesis argument -</a:t>
            </a:r>
          </a:p>
          <a:p>
            <a:pPr>
              <a:spcAft>
                <a:spcPts val="400"/>
              </a:spcAft>
              <a:defRPr sz="1400" b="1">
                <a:solidFill>
                  <a:srgbClr val="F0F0F0"/>
                </a:solidFill>
                <a:latin typeface="Arial"/>
              </a:defRPr>
            </a:pPr>
            <a:r>
              <a:t>proving that ALL existing partition-based methods fail to exploit multi-server parallelism.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0"/>
                </a:solidFill>
                <a:latin typeface="Arial"/>
              </a:defRPr>
            </a:pPr>
            <a:r>
              <a:t>6.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8229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40080" cy="27432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188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Arial"/>
              </a:defRPr>
            </a:pPr>
            <a:r>
              <a:t>Re-run Exp2 for remaining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Exp2 was partially stale (segfault during generation). BERT-large/ALBERT-large/ViT-large etc. need fresh data with fixed algorithms.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47120" cy="8229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640080" cy="27432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03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Arial"/>
              </a:defRPr>
            </a:pPr>
            <a:r>
              <a:t>Investigate ALBERT-large segfault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505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Exp2 crashed at ALBERT-large (1371 nodes, exit code 139). Need per-model subprocess isolation.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11247120" cy="8229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063240"/>
            <a:ext cx="640080" cy="274320"/>
          </a:xfrm>
          <a:prstGeom prst="round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0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17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Arial"/>
              </a:defRPr>
            </a:pPr>
            <a:r>
              <a:t>Re-generate all Exp2 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3649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After fresh data, regenerate network ablation line charts and combined grid.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11247120" cy="8229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977640"/>
            <a:ext cx="640080" cy="274320"/>
          </a:xfrm>
          <a:prstGeom prst="round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776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0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Arial"/>
              </a:defRPr>
            </a:pPr>
            <a:r>
              <a:t>Paper writing: Evaluation section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793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Organize v7 results into paper format. Key story: OCC=DINA=MEDIA proves baseline limitation.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54880"/>
            <a:ext cx="11247120" cy="8229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892040"/>
            <a:ext cx="640080" cy="27432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0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Arial"/>
              </a:defRPr>
            </a:pPr>
            <a:r>
              <a:t>Additional ablation experiments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193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P_sync sensitivity, HPA k-distribution breakdown charts for paper.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669280"/>
            <a:ext cx="11247120" cy="8229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5806440"/>
            <a:ext cx="640080" cy="27432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0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760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Arial"/>
              </a:defRPr>
            </a:pPr>
            <a:r>
              <a:t>Patent 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6108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Arial"/>
              </a:defRPr>
            </a:pPr>
            <a:r>
              <a:t>Draft CN patent for HPA tensor parallelism + HEFT scheduling method.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0F0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EC9B0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Arial"/>
              </a:defRPr>
            </a:pPr>
            <a:r>
              <a:t>Key takeaway: After rigorous baseline audit, OCC=DINA=MEDIA on all serial DAGs.</a:t>
            </a:r>
            <a:br/>
            <a:r>
              <a:t>Only HPA (Ours) achieves real multi-server parallelism through tensor parallelism.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